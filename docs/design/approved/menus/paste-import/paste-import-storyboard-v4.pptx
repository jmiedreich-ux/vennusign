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0474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pass, after team review. Direction unchanged; the corrections are in matching safety, replacement recovery, the missing proof states, capacity, and legibility.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corrections from the review. Nothing about the overall direction 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line count is the only claim before the server reads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state. Both ceilings appear here as soon as they exist, because a paste can pass the line limit and fail the item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argument of this screen is its shape: decisions on top, inventory behind a door. Next two slides show the questions at readable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correction that matters most. Nothing pre-ticked, the rule shown on automatic matches, and a candidate selector where two library items are equally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lines the parser could not classify. Promoting one to a section is the cheapest fix for a large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and after scrolling, since we claim the progress bar and primary action follow the operator down the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audit, one step in. Automatic matches show the rule that produced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frame the storyboard was missing. 22/19 becomes 25/16 in front of the operator, and the identity summary says which moves were ours and which were theirs.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confirmation step blank creation uses. The button names the object it creates.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columns plus the new snapshot promise. The acknowledgment appears only because unpublished changes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Done is a stop. Review draft in builder is the operator's own action; Not live yet is stated.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Replacement ends on facts a new menu does not have: surviving 86s, the published version still on the screens, and the saved restore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name the person and keep the import. R1 mentions the self-clearing lease without the word 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Expiry is the only state that admits losing work, so it is specific about what and when.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ceilings and an empty box. R10 is new: line count fine, item count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here can produce half a menu, and nothing here can produce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bigger menu means longer answers to the same questions, plus one scoped bulk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900px is the supported floor. The choice keeps its full words even when the layout tightens.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Narrower than the floor: named, not broken, and the work is kept. One isolated frame so it can actually be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corrections: import-session lease early, target lock at confirm, the new snapshot step inside the transaction, and a return instead of a navigation.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behaviours the design draws but nobody has signed off. They are pending, not settled. Plus the accessibility scope: only keyboard-specific design and testing are out; semantics, names, focus and status messaging are still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40225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87C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VENNUSIGN BACK OFFICE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895106" y="914400"/>
            <a:ext cx="40736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Menus · Slice 6-A · second pass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3107829"/>
            <a:ext cx="16678275" cy="2136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128"/>
              </a:lnSpc>
              <a:buNone/>
            </a:pPr>
            <a:r>
              <a:rPr lang="en-US" sz="8100" b="1" kern="0" spc="-283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import, panel by panel</a:t>
            </a:r>
            <a:endParaRPr lang="en-US" sz="8100" dirty="0"/>
          </a:p>
        </p:txBody>
      </p:sp>
      <p:sp>
        <p:nvSpPr>
          <p:cNvPr id="5" name="Text 3"/>
          <p:cNvSpPr/>
          <p:nvPr/>
        </p:nvSpPr>
        <p:spPr>
          <a:xfrm>
            <a:off x="1047750" y="5549205"/>
            <a:ext cx="12165330" cy="14110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472"/>
              </a:lnSpc>
              <a:buNone/>
            </a:pPr>
            <a:r>
              <a:rPr lang="en-US" sz="2325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venue operator copies their menu out of a document and ends up with a VennuSign menu they can trust. Screens are drawn from the live design, cropped where a detail is the point.</a:t>
            </a:r>
            <a:endParaRPr lang="en-US" sz="2325" dirty="0"/>
          </a:p>
        </p:txBody>
      </p:sp>
      <p:sp>
        <p:nvSpPr>
          <p:cNvPr id="6" name="Shape 4"/>
          <p:cNvSpPr/>
          <p:nvPr/>
        </p:nvSpPr>
        <p:spPr>
          <a:xfrm>
            <a:off x="1047750" y="8848725"/>
            <a:ext cx="1092696" cy="523875"/>
          </a:xfrm>
          <a:prstGeom prst="roundRect">
            <a:avLst>
              <a:gd name="adj" fmla="val 50000"/>
            </a:avLst>
          </a:prstGeom>
          <a:solidFill>
            <a:srgbClr val="F8FAFC">
              <a:alpha val="1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276350" y="8972550"/>
            <a:ext cx="71169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2349996" y="8972550"/>
            <a:ext cx="3143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2797671" y="8848725"/>
            <a:ext cx="1039564" cy="523875"/>
          </a:xfrm>
          <a:prstGeom prst="roundRect">
            <a:avLst>
              <a:gd name="adj" fmla="val 50000"/>
            </a:avLst>
          </a:prstGeom>
          <a:solidFill>
            <a:srgbClr val="F8FAFC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026271" y="8972550"/>
            <a:ext cx="65856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4046786" y="8972550"/>
            <a:ext cx="3143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4494461" y="8848725"/>
            <a:ext cx="1277987" cy="523875"/>
          </a:xfrm>
          <a:prstGeom prst="roundRect">
            <a:avLst>
              <a:gd name="adj" fmla="val 50000"/>
            </a:avLst>
          </a:prstGeom>
          <a:solidFill>
            <a:srgbClr val="F8FAFC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723061" y="8972550"/>
            <a:ext cx="89698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5981998" y="8972550"/>
            <a:ext cx="3143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6429673" y="8848725"/>
            <a:ext cx="1369963" cy="523875"/>
          </a:xfrm>
          <a:prstGeom prst="roundRect">
            <a:avLst>
              <a:gd name="adj" fmla="val 50000"/>
            </a:avLst>
          </a:prstGeom>
          <a:solidFill>
            <a:srgbClr val="F8FAFC">
              <a:alpha val="1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658273" y="8972550"/>
            <a:ext cx="98896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8009186" y="8972550"/>
            <a:ext cx="3143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8456861" y="8848725"/>
            <a:ext cx="1052513" cy="523875"/>
          </a:xfrm>
          <a:prstGeom prst="roundRect">
            <a:avLst>
              <a:gd name="adj" fmla="val 50000"/>
            </a:avLst>
          </a:prstGeom>
          <a:solidFill>
            <a:srgbClr val="87CEEB"/>
          </a:solidFill>
          <a:ln/>
        </p:spPr>
      </p:sp>
      <p:sp>
        <p:nvSpPr>
          <p:cNvPr id="19" name="Text 17"/>
          <p:cNvSpPr/>
          <p:nvPr/>
        </p:nvSpPr>
        <p:spPr>
          <a:xfrm>
            <a:off x="8685461" y="8972550"/>
            <a:ext cx="67151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5143411" y="8977313"/>
            <a:ext cx="230652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panels · 23 slides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87C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THE LAST PASS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19200"/>
            <a:ext cx="157162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803"/>
              </a:lnSpc>
              <a:buNone/>
            </a:pPr>
            <a:r>
              <a:rPr lang="en-US" sz="4650" b="1" kern="0" spc="-1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corrections. The shape of the flow is unchanged.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2299692"/>
            <a:ext cx="7905750" cy="2857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2518767"/>
            <a:ext cx="8696325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944"/>
              </a:lnSpc>
              <a:buNone/>
            </a:pPr>
            <a:r>
              <a:rPr lang="en-US" sz="2325" b="1" kern="0" spc="-42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answered for you</a:t>
            </a:r>
            <a:endParaRPr lang="en-US" sz="2325" dirty="0"/>
          </a:p>
        </p:txBody>
      </p:sp>
      <p:sp>
        <p:nvSpPr>
          <p:cNvPr id="6" name="Text 4"/>
          <p:cNvSpPr/>
          <p:nvPr/>
        </p:nvSpPr>
        <p:spPr>
          <a:xfrm>
            <a:off x="1047750" y="2988320"/>
            <a:ext cx="8142923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18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punctuation, spacing and capitals match automatically — a </a:t>
            </a:r>
            <a:r>
              <a:rPr lang="en-US" sz="18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match </a:t>
            </a:r>
            <a:r>
              <a:rPr lang="en-US" sz="18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and each shows the rule. </a:t>
            </a:r>
            <a:r>
              <a:rPr lang="en-US" sz="18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 all 30 </a:t>
            </a:r>
            <a:r>
              <a:rPr lang="en-US" sz="18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r>
              <a:rPr lang="en-US" sz="18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Untick all </a:t>
            </a:r>
            <a:r>
              <a:rPr lang="en-US" sz="18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gone.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9334500" y="2299692"/>
            <a:ext cx="7905750" cy="2857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9334500" y="2518767"/>
            <a:ext cx="8696325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944"/>
              </a:lnSpc>
              <a:buNone/>
            </a:pPr>
            <a:r>
              <a:rPr lang="en-US" sz="2325" b="1" kern="0" spc="-42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replaced draft is saved first</a:t>
            </a:r>
            <a:endParaRPr lang="en-US" sz="2325" dirty="0"/>
          </a:p>
        </p:txBody>
      </p:sp>
      <p:sp>
        <p:nvSpPr>
          <p:cNvPr id="9" name="Text 7"/>
          <p:cNvSpPr/>
          <p:nvPr/>
        </p:nvSpPr>
        <p:spPr>
          <a:xfrm>
            <a:off x="9334500" y="2988320"/>
            <a:ext cx="8142923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18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restorable version is written inside the transaction, every time — so a </a:t>
            </a:r>
            <a:r>
              <a:rPr lang="en-US" sz="187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 </a:t>
            </a:r>
            <a:r>
              <a:rPr lang="en-US" sz="18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is recoverable too.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047750" y="3950345"/>
            <a:ext cx="7905750" cy="2857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4169420"/>
            <a:ext cx="8696325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944"/>
              </a:lnSpc>
              <a:buNone/>
            </a:pPr>
            <a:r>
              <a:rPr lang="en-US" sz="2325" b="1" kern="0" spc="-42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proof states exist</a:t>
            </a:r>
            <a:endParaRPr lang="en-US" sz="2325" dirty="0"/>
          </a:p>
        </p:txBody>
      </p:sp>
      <p:sp>
        <p:nvSpPr>
          <p:cNvPr id="12" name="Text 10"/>
          <p:cNvSpPr/>
          <p:nvPr/>
        </p:nvSpPr>
        <p:spPr>
          <a:xfrm>
            <a:off x="1047750" y="4638973"/>
            <a:ext cx="8142923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18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Reading, answered-review with the counts settled, and a replacement completion of its own.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9334500" y="3950345"/>
            <a:ext cx="7905750" cy="2857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9334500" y="4169420"/>
            <a:ext cx="8696325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944"/>
              </a:lnSpc>
              <a:buNone/>
            </a:pPr>
            <a:r>
              <a:rPr lang="en-US" sz="2325" b="1" kern="0" spc="-42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limits, both stated early</a:t>
            </a:r>
            <a:endParaRPr lang="en-US" sz="2325" dirty="0"/>
          </a:p>
        </p:txBody>
      </p:sp>
      <p:sp>
        <p:nvSpPr>
          <p:cNvPr id="15" name="Text 13"/>
          <p:cNvSpPr/>
          <p:nvPr/>
        </p:nvSpPr>
        <p:spPr>
          <a:xfrm>
            <a:off x="9334500" y="4638973"/>
            <a:ext cx="8142923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18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lines to read, 500 items to hold. A paste can pass one and fail the other, and hears so before answering anything.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047750" y="5600998"/>
            <a:ext cx="7905750" cy="2857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1047750" y="5820073"/>
            <a:ext cx="8696325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944"/>
              </a:lnSpc>
              <a:buNone/>
            </a:pPr>
            <a:r>
              <a:rPr lang="en-US" sz="2325" b="1" kern="0" spc="-42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is a stop, not a hop</a:t>
            </a:r>
            <a:endParaRPr lang="en-US" sz="2325" dirty="0"/>
          </a:p>
        </p:txBody>
      </p:sp>
      <p:sp>
        <p:nvSpPr>
          <p:cNvPr id="18" name="Text 16"/>
          <p:cNvSpPr/>
          <p:nvPr/>
        </p:nvSpPr>
        <p:spPr>
          <a:xfrm>
            <a:off x="1047750" y="6289625"/>
            <a:ext cx="8696325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18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draft in builder</a:t>
            </a:r>
            <a:r>
              <a:rPr lang="en-US" sz="18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8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live yet</a:t>
            </a:r>
            <a:r>
              <a:rPr lang="en-US" sz="18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</a:t>
            </a:r>
            <a:r>
              <a:rPr lang="en-US" sz="18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for now </a:t>
            </a:r>
            <a:r>
              <a:rPr lang="en-US" sz="18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beside it.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9334500" y="5600998"/>
            <a:ext cx="7905750" cy="2857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9334500" y="5820073"/>
            <a:ext cx="8696325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944"/>
              </a:lnSpc>
              <a:buNone/>
            </a:pPr>
            <a:r>
              <a:rPr lang="en-US" sz="2325" b="1" kern="0" spc="-42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first, audit behind a door</a:t>
            </a:r>
            <a:endParaRPr lang="en-US" sz="2325" dirty="0"/>
          </a:p>
        </p:txBody>
      </p:sp>
      <p:sp>
        <p:nvSpPr>
          <p:cNvPr id="21" name="Text 19"/>
          <p:cNvSpPr/>
          <p:nvPr/>
        </p:nvSpPr>
        <p:spPr>
          <a:xfrm>
            <a:off x="9334500" y="6289625"/>
            <a:ext cx="8142923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18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counts decisions, not questions. The 47-item inventory has its own screen.</a:t>
            </a:r>
            <a:endParaRPr lang="en-US" sz="18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1419225"/>
            <a:ext cx="16687800" cy="19050"/>
          </a:xfrm>
          <a:prstGeom prst="rect">
            <a:avLst/>
          </a:prstGeom>
          <a:solidFill>
            <a:srgbClr val="DBE3EA"/>
          </a:solidFill>
          <a:ln/>
        </p:spPr>
      </p:sp>
      <p:sp>
        <p:nvSpPr>
          <p:cNvPr id="3" name="Text 1"/>
          <p:cNvSpPr/>
          <p:nvPr/>
        </p:nvSpPr>
        <p:spPr>
          <a:xfrm>
            <a:off x="800100" y="895350"/>
            <a:ext cx="1212652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87C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146102" y="685800"/>
            <a:ext cx="15401598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-86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the menu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6357104" y="895350"/>
            <a:ext cx="1206996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P1b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00100" y="1762125"/>
            <a:ext cx="11239500" cy="7031831"/>
          </a:xfrm>
          <a:prstGeom prst="roundRect">
            <a:avLst>
              <a:gd name="adj" fmla="val 1355"/>
            </a:avLst>
          </a:prstGeom>
          <a:ln w="9525">
            <a:solidFill>
              <a:srgbClr val="DBE3E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762125"/>
            <a:ext cx="11239500" cy="703183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439650" y="1762125"/>
            <a:ext cx="55530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6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2439650" y="2143125"/>
            <a:ext cx="5199698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paste. We count the lines and state the limit — the only claim we make before the server has read it.</a:t>
            </a:r>
            <a:endParaRPr lang="en-US" sz="2025" dirty="0"/>
          </a:p>
        </p:txBody>
      </p:sp>
      <p:sp>
        <p:nvSpPr>
          <p:cNvPr id="10" name="Text 7"/>
          <p:cNvSpPr/>
          <p:nvPr/>
        </p:nvSpPr>
        <p:spPr>
          <a:xfrm>
            <a:off x="12439650" y="3586163"/>
            <a:ext cx="55530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6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LOOKS LIKE THIS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439650" y="3967163"/>
            <a:ext cx="5199698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format is taught beside the box, not enforced by a template — people paste what they already have.</a:t>
            </a:r>
            <a:endParaRPr lang="en-US" sz="2025" dirty="0"/>
          </a:p>
        </p:txBody>
      </p:sp>
      <p:sp>
        <p:nvSpPr>
          <p:cNvPr id="12" name="Shape 9"/>
          <p:cNvSpPr/>
          <p:nvPr/>
        </p:nvSpPr>
        <p:spPr>
          <a:xfrm>
            <a:off x="12439650" y="5410200"/>
            <a:ext cx="5048250" cy="1952625"/>
          </a:xfrm>
          <a:prstGeom prst="roundRect">
            <a:avLst>
              <a:gd name="adj" fmla="val 6829"/>
            </a:avLst>
          </a:prstGeom>
          <a:solidFill>
            <a:srgbClr val="FDF9EF"/>
          </a:solidFill>
          <a:ln/>
        </p:spPr>
      </p:sp>
      <p:sp>
        <p:nvSpPr>
          <p:cNvPr id="13" name="Text 10"/>
          <p:cNvSpPr/>
          <p:nvPr/>
        </p:nvSpPr>
        <p:spPr>
          <a:xfrm>
            <a:off x="12687300" y="5638800"/>
            <a:ext cx="50082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62" dirty="0">
                <a:solidFill>
                  <a:srgbClr val="7D59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US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687300" y="6019800"/>
            <a:ext cx="4689539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dirty="0">
                <a:solidFill>
                  <a:srgbClr val="7D59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“what we never take from a paste” worth its space, or only shown when a paste contains sold-out marks?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1419225"/>
            <a:ext cx="16687800" cy="19050"/>
          </a:xfrm>
          <a:prstGeom prst="rect">
            <a:avLst/>
          </a:prstGeom>
          <a:solidFill>
            <a:srgbClr val="DBE3EA"/>
          </a:solidFill>
          <a:ln/>
        </p:spPr>
      </p:sp>
      <p:sp>
        <p:nvSpPr>
          <p:cNvPr id="3" name="Text 1"/>
          <p:cNvSpPr/>
          <p:nvPr/>
        </p:nvSpPr>
        <p:spPr>
          <a:xfrm>
            <a:off x="800100" y="895350"/>
            <a:ext cx="1212652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87C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146102" y="685800"/>
            <a:ext cx="15415677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-86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it — new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6369903" y="895350"/>
            <a:ext cx="1194197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P1c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00100" y="1762125"/>
            <a:ext cx="16706850" cy="4178201"/>
          </a:xfrm>
          <a:prstGeom prst="roundRect">
            <a:avLst>
              <a:gd name="adj" fmla="val 2280"/>
            </a:avLst>
          </a:prstGeom>
          <a:ln w="9525">
            <a:solidFill>
              <a:srgbClr val="DBE3E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762125"/>
            <a:ext cx="16706850" cy="417820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0100" y="6321326"/>
            <a:ext cx="865441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6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STATE THAT WAS MISSING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00100" y="6721376"/>
            <a:ext cx="8103679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pressing the button and seeing the review there was nothing drawn. It matters, because this is where the two ceilings first exist — and where a menu that can’t be created has to be refused, before anyone answers a single question about it.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9086850" y="6321326"/>
            <a:ext cx="8401050" cy="2009775"/>
          </a:xfrm>
          <a:prstGeom prst="roundRect">
            <a:avLst>
              <a:gd name="adj" fmla="val 6635"/>
            </a:avLst>
          </a:prstGeom>
          <a:solidFill>
            <a:srgbClr val="F4F7FA"/>
          </a:solidFill>
          <a:ln/>
        </p:spPr>
      </p:sp>
      <p:sp>
        <p:nvSpPr>
          <p:cNvPr id="11" name="Text 8"/>
          <p:cNvSpPr/>
          <p:nvPr/>
        </p:nvSpPr>
        <p:spPr>
          <a:xfrm>
            <a:off x="9353550" y="6568976"/>
            <a:ext cx="865441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62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DIFFERENT LIMITS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353550" y="6969026"/>
            <a:ext cx="8103679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lines </a:t>
            </a: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how much text we read at once. </a:t>
            </a: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items </a:t>
            </a: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how much one menu can hold, Imported items included. 1,880 lines can still make 612 items.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1419225"/>
            <a:ext cx="16687800" cy="19050"/>
          </a:xfrm>
          <a:prstGeom prst="rect">
            <a:avLst/>
          </a:prstGeom>
          <a:solidFill>
            <a:srgbClr val="DBE3EA"/>
          </a:solidFill>
          <a:ln/>
        </p:spPr>
      </p:sp>
      <p:sp>
        <p:nvSpPr>
          <p:cNvPr id="3" name="Text 1"/>
          <p:cNvSpPr/>
          <p:nvPr/>
        </p:nvSpPr>
        <p:spPr>
          <a:xfrm>
            <a:off x="800100" y="895350"/>
            <a:ext cx="1212652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87C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146102" y="685800"/>
            <a:ext cx="14605471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-86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— the shape of it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5633353" y="895350"/>
            <a:ext cx="2040002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P2 · scrolls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00100" y="1762125"/>
            <a:ext cx="8343602" cy="7858125"/>
          </a:xfrm>
          <a:prstGeom prst="roundRect">
            <a:avLst>
              <a:gd name="adj" fmla="val 1212"/>
            </a:avLst>
          </a:prstGeom>
          <a:ln w="9525">
            <a:solidFill>
              <a:srgbClr val="DBE3E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762125"/>
            <a:ext cx="8343602" cy="7858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62802" y="1762125"/>
            <a:ext cx="87176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6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562802" y="2143125"/>
            <a:ext cx="8162851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items came back with </a:t>
            </a: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question groups and seven decisions </a:t>
            </a:r>
            <a:r>
              <a:rPr lang="en-US" sz="2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them. None of them is answered in advance, and the way forward stays shut until all seven are.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9562802" y="3590925"/>
            <a:ext cx="87176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6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MOVED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562802" y="3971925"/>
            <a:ext cx="8162851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item inventory used to sit under the questions competing for attention. It now has its own screen behind </a:t>
            </a: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all 47 items </a:t>
            </a:r>
            <a:r>
              <a:rPr lang="en-US" sz="2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What stays is the fallback, because it has a consequence: a section gets created.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9562802" y="5819775"/>
            <a:ext cx="7925098" cy="1581150"/>
          </a:xfrm>
          <a:prstGeom prst="roundRect">
            <a:avLst>
              <a:gd name="adj" fmla="val 8434"/>
            </a:avLst>
          </a:prstGeom>
          <a:solidFill>
            <a:srgbClr val="FDF9EF"/>
          </a:solidFill>
          <a:ln/>
        </p:spPr>
      </p:sp>
      <p:sp>
        <p:nvSpPr>
          <p:cNvPr id="13" name="Text 10"/>
          <p:cNvSpPr/>
          <p:nvPr/>
        </p:nvSpPr>
        <p:spPr>
          <a:xfrm>
            <a:off x="9810452" y="6048375"/>
            <a:ext cx="817277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62" dirty="0">
                <a:solidFill>
                  <a:srgbClr val="7D59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US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810452" y="6429375"/>
            <a:ext cx="765269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dirty="0">
                <a:solidFill>
                  <a:srgbClr val="7D59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counting </a:t>
            </a:r>
            <a:r>
              <a:rPr lang="en-US" sz="1950" i="1" dirty="0">
                <a:solidFill>
                  <a:srgbClr val="7D59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</a:t>
            </a:r>
            <a:r>
              <a:rPr lang="en-US" sz="1950" dirty="0">
                <a:solidFill>
                  <a:srgbClr val="7D59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rather than questions the right promise to make at the top?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1400175"/>
            <a:ext cx="16687800" cy="19050"/>
          </a:xfrm>
          <a:prstGeom prst="rect">
            <a:avLst/>
          </a:prstGeom>
          <a:solidFill>
            <a:srgbClr val="DBE3EA"/>
          </a:solidFill>
          <a:ln/>
        </p:spPr>
      </p:sp>
      <p:sp>
        <p:nvSpPr>
          <p:cNvPr id="3" name="Text 1"/>
          <p:cNvSpPr/>
          <p:nvPr/>
        </p:nvSpPr>
        <p:spPr>
          <a:xfrm>
            <a:off x="800100" y="895350"/>
            <a:ext cx="1461775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87C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3A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38536" y="685800"/>
            <a:ext cx="1484056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-86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are items you already have?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6039505" y="895350"/>
            <a:ext cx="1593235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from P2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00100" y="1704975"/>
            <a:ext cx="12592050" cy="6305550"/>
          </a:xfrm>
          <a:prstGeom prst="roundRect">
            <a:avLst>
              <a:gd name="adj" fmla="val 1511"/>
            </a:avLst>
          </a:prstGeom>
          <a:ln w="9525">
            <a:solidFill>
              <a:srgbClr val="DBE3E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704975"/>
            <a:ext cx="12592050" cy="63055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0100" y="8296275"/>
            <a:ext cx="568568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6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 NOW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00100" y="8677275"/>
            <a:ext cx="5323865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only for punctuation, spacing and capitals — and those are listed as matched, with the rule that did it. Anything semantic is a decision, and starts blank.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6311801" y="8296275"/>
            <a:ext cx="56858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6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CANDIDATES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311801" y="8677275"/>
            <a:ext cx="5324018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two of your items are equally close, </a:t>
            </a: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item </a:t>
            </a: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unavailable until one is chosen. We never pick for them.</a:t>
            </a:r>
            <a:endParaRPr lang="en-US" sz="1950" dirty="0"/>
          </a:p>
        </p:txBody>
      </p:sp>
      <p:sp>
        <p:nvSpPr>
          <p:cNvPr id="12" name="Shape 9"/>
          <p:cNvSpPr/>
          <p:nvPr/>
        </p:nvSpPr>
        <p:spPr>
          <a:xfrm>
            <a:off x="11823650" y="8296275"/>
            <a:ext cx="5664250" cy="1952625"/>
          </a:xfrm>
          <a:prstGeom prst="roundRect">
            <a:avLst>
              <a:gd name="adj" fmla="val 6829"/>
            </a:avLst>
          </a:prstGeom>
          <a:solidFill>
            <a:srgbClr val="F4F7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071300" y="8524875"/>
            <a:ext cx="56858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62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30 ROWS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071300" y="8905875"/>
            <a:ext cx="5324018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action: </a:t>
            </a: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28 safe matches </a:t>
            </a: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two we’re unsure of can never be inside it, and stay unanswered for individual review.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1400175"/>
            <a:ext cx="16687800" cy="19050"/>
          </a:xfrm>
          <a:prstGeom prst="rect">
            <a:avLst/>
          </a:prstGeom>
          <a:solidFill>
            <a:srgbClr val="DBE3EA"/>
          </a:solidFill>
          <a:ln/>
        </p:spPr>
      </p:sp>
      <p:sp>
        <p:nvSpPr>
          <p:cNvPr id="3" name="Text 1"/>
          <p:cNvSpPr/>
          <p:nvPr/>
        </p:nvSpPr>
        <p:spPr>
          <a:xfrm>
            <a:off x="800100" y="895350"/>
            <a:ext cx="1461775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87C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3B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38536" y="685800"/>
            <a:ext cx="1484056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-86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lines we couldn’t read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6039505" y="895350"/>
            <a:ext cx="1593235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from P2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00100" y="1704975"/>
            <a:ext cx="15259050" cy="4902398"/>
          </a:xfrm>
          <a:prstGeom prst="roundRect">
            <a:avLst>
              <a:gd name="adj" fmla="val 1943"/>
            </a:avLst>
          </a:prstGeom>
          <a:ln w="9525">
            <a:solidFill>
              <a:srgbClr val="DBE3E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704975"/>
            <a:ext cx="15259050" cy="490239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0100" y="6893123"/>
            <a:ext cx="87172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6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ANSWERS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00100" y="7274123"/>
            <a:ext cx="816254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item, a section, or leave it out. Each row cites its line and says why we couldn’t read it. A line left out stays in the pasted text.</a:t>
            </a:r>
            <a:endParaRPr lang="en-US" sz="1950" dirty="0"/>
          </a:p>
        </p:txBody>
      </p:sp>
      <p:sp>
        <p:nvSpPr>
          <p:cNvPr id="10" name="Shape 7"/>
          <p:cNvSpPr/>
          <p:nvPr/>
        </p:nvSpPr>
        <p:spPr>
          <a:xfrm>
            <a:off x="9067800" y="6893123"/>
            <a:ext cx="8420100" cy="1581150"/>
          </a:xfrm>
          <a:prstGeom prst="roundRect">
            <a:avLst>
              <a:gd name="adj" fmla="val 8434"/>
            </a:avLst>
          </a:prstGeom>
          <a:solidFill>
            <a:srgbClr val="FDF9EF"/>
          </a:solidFill>
          <a:ln/>
        </p:spPr>
      </p:sp>
      <p:sp>
        <p:nvSpPr>
          <p:cNvPr id="11" name="Text 8"/>
          <p:cNvSpPr/>
          <p:nvPr/>
        </p:nvSpPr>
        <p:spPr>
          <a:xfrm>
            <a:off x="9315450" y="7121723"/>
            <a:ext cx="87172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62" dirty="0">
                <a:solidFill>
                  <a:srgbClr val="7D59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US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315450" y="7502723"/>
            <a:ext cx="816254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dirty="0">
                <a:solidFill>
                  <a:srgbClr val="7D59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promoting a line to a </a:t>
            </a:r>
            <a:r>
              <a:rPr lang="en-US" sz="1950" i="1" dirty="0">
                <a:solidFill>
                  <a:srgbClr val="7D59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</a:t>
            </a:r>
            <a:r>
              <a:rPr lang="en-US" sz="1950" dirty="0">
                <a:solidFill>
                  <a:srgbClr val="7D59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scope? It’s the difference between a 26-item fallback and none.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1400175"/>
            <a:ext cx="16687800" cy="19050"/>
          </a:xfrm>
          <a:prstGeom prst="rect">
            <a:avLst/>
          </a:prstGeom>
          <a:solidFill>
            <a:srgbClr val="DBE3EA"/>
          </a:solidFill>
          <a:ln/>
        </p:spPr>
      </p:sp>
      <p:sp>
        <p:nvSpPr>
          <p:cNvPr id="3" name="Text 1"/>
          <p:cNvSpPr/>
          <p:nvPr/>
        </p:nvSpPr>
        <p:spPr>
          <a:xfrm>
            <a:off x="800100" y="895350"/>
            <a:ext cx="1212652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87C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146102" y="685800"/>
            <a:ext cx="15513412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-86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page, further down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6458754" y="895350"/>
            <a:ext cx="1105346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→ P2s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00100" y="1704975"/>
            <a:ext cx="63807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TOP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00100" y="2105025"/>
            <a:ext cx="5819775" cy="5481340"/>
          </a:xfrm>
          <a:prstGeom prst="roundRect">
            <a:avLst>
              <a:gd name="adj" fmla="val 1738"/>
            </a:avLst>
          </a:prstGeom>
          <a:ln w="9525">
            <a:solidFill>
              <a:srgbClr val="DBE3EA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105025"/>
            <a:ext cx="5819775" cy="54813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05625" y="1704975"/>
            <a:ext cx="63807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SCROLLED, 3 OF 7 ANSWERED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905625" y="2105025"/>
            <a:ext cx="5819775" cy="3644503"/>
          </a:xfrm>
          <a:prstGeom prst="roundRect">
            <a:avLst>
              <a:gd name="adj" fmla="val 2614"/>
            </a:avLst>
          </a:prstGeom>
          <a:ln w="9525">
            <a:solidFill>
              <a:srgbClr val="DBE3E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5625" y="2105025"/>
            <a:ext cx="5819775" cy="36445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011150" y="1704975"/>
            <a:ext cx="49244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6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STICKS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3011150" y="2085975"/>
            <a:ext cx="4611052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bar carrying the decisions left, the progress and the primary action — so the moment the count hits zero, the way forward is already on screen.</a:t>
            </a:r>
            <a:endParaRPr lang="en-US" sz="1950" dirty="0"/>
          </a:p>
        </p:txBody>
      </p:sp>
      <p:sp>
        <p:nvSpPr>
          <p:cNvPr id="14" name="Text 10"/>
          <p:cNvSpPr/>
          <p:nvPr/>
        </p:nvSpPr>
        <p:spPr>
          <a:xfrm>
            <a:off x="13011150" y="3800475"/>
            <a:ext cx="49244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6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DOESN’T HIDE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3011150" y="4181475"/>
            <a:ext cx="4611052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answered group shrinks to a line. An unanswered one stays open, with a route back to it.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1419225"/>
            <a:ext cx="16687800" cy="19050"/>
          </a:xfrm>
          <a:prstGeom prst="rect">
            <a:avLst/>
          </a:prstGeom>
          <a:solidFill>
            <a:srgbClr val="DBE3EA"/>
          </a:solidFill>
          <a:ln/>
        </p:spPr>
      </p:sp>
      <p:sp>
        <p:nvSpPr>
          <p:cNvPr id="3" name="Text 1"/>
          <p:cNvSpPr/>
          <p:nvPr/>
        </p:nvSpPr>
        <p:spPr>
          <a:xfrm>
            <a:off x="800100" y="895350"/>
            <a:ext cx="1212652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87C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146102" y="685800"/>
            <a:ext cx="15485581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-86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all 47 items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6433453" y="895350"/>
            <a:ext cx="1130647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P2i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00100" y="1762125"/>
            <a:ext cx="8542288" cy="7858125"/>
          </a:xfrm>
          <a:prstGeom prst="roundRect">
            <a:avLst>
              <a:gd name="adj" fmla="val 1212"/>
            </a:avLst>
          </a:prstGeom>
          <a:ln w="9525">
            <a:solidFill>
              <a:srgbClr val="DBE3E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762125"/>
            <a:ext cx="8542288" cy="7858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761488" y="1762125"/>
            <a:ext cx="84990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6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IT’S SEPARATE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761488" y="2143125"/>
            <a:ext cx="7958204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here needs attention — it’s here so the operator can check our work. Every row cites the line it came from, and the three automatic matches carry a </a:t>
            </a: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punctuation </a:t>
            </a:r>
            <a:r>
              <a:rPr lang="en-US" sz="2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</a:t>
            </a: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capitals </a:t>
            </a:r>
            <a:r>
              <a:rPr lang="en-US" sz="2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label.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9761488" y="3590925"/>
            <a:ext cx="84990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6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ITEMS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761488" y="3971925"/>
            <a:ext cx="795820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Listed in full at six. At 26 it summarises and names the cause instead: “22 of these follow the same unreadable line.”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1419225"/>
            <a:ext cx="16687800" cy="19050"/>
          </a:xfrm>
          <a:prstGeom prst="rect">
            <a:avLst/>
          </a:prstGeom>
          <a:solidFill>
            <a:srgbClr val="DBE3EA"/>
          </a:solidFill>
          <a:ln/>
        </p:spPr>
      </p:sp>
      <p:sp>
        <p:nvSpPr>
          <p:cNvPr id="3" name="Text 1"/>
          <p:cNvSpPr/>
          <p:nvPr/>
        </p:nvSpPr>
        <p:spPr>
          <a:xfrm>
            <a:off x="800100" y="895350"/>
            <a:ext cx="1212652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87C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146102" y="685800"/>
            <a:ext cx="14772948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-86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Answered — and the counts settle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5785604" y="895350"/>
            <a:ext cx="1872526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P2r · new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00100" y="1762125"/>
            <a:ext cx="13830300" cy="6618387"/>
          </a:xfrm>
          <a:prstGeom prst="roundRect">
            <a:avLst>
              <a:gd name="adj" fmla="val 1439"/>
            </a:avLst>
          </a:prstGeom>
          <a:ln w="9525">
            <a:solidFill>
              <a:srgbClr val="DBE3E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762125"/>
            <a:ext cx="13830300" cy="66183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0100" y="8704362"/>
            <a:ext cx="89896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6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HAS TO EXIST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00100" y="9085362"/>
            <a:ext cx="8417624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it the story jumps from open questions to confirmation, and “the finish screen agrees with the review screen” has nothing to stand on. </a:t>
            </a: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updated, 16 new, 6 imported </a:t>
            </a: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same numbers Done will report.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9315450" y="8704362"/>
            <a:ext cx="89896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6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EACH ITEM WAS MATCHED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315450" y="9085362"/>
            <a:ext cx="8417624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exact names, 3 safe matches, 3 the operator confirmed, 1 they kept new, 15 with nothing close. Each line says </a:t>
            </a: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 automatically </a:t>
            </a: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</a:t>
            </a: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decided </a:t>
            </a: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it’s kept with the import.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1419225"/>
            <a:ext cx="16687800" cy="19050"/>
          </a:xfrm>
          <a:prstGeom prst="rect">
            <a:avLst/>
          </a:prstGeom>
          <a:solidFill>
            <a:srgbClr val="DBE3EA"/>
          </a:solidFill>
          <a:ln/>
        </p:spPr>
      </p:sp>
      <p:sp>
        <p:nvSpPr>
          <p:cNvPr id="3" name="Text 1"/>
          <p:cNvSpPr/>
          <p:nvPr/>
        </p:nvSpPr>
        <p:spPr>
          <a:xfrm>
            <a:off x="800100" y="895350"/>
            <a:ext cx="1212652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87C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146102" y="685800"/>
            <a:ext cx="15401598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-86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— into a new menu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6357104" y="895350"/>
            <a:ext cx="1206996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P3a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00100" y="1762125"/>
            <a:ext cx="11239500" cy="7031831"/>
          </a:xfrm>
          <a:prstGeom prst="roundRect">
            <a:avLst>
              <a:gd name="adj" fmla="val 1355"/>
            </a:avLst>
          </a:prstGeom>
          <a:ln w="9525">
            <a:solidFill>
              <a:srgbClr val="DBE3E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762125"/>
            <a:ext cx="11239500" cy="703183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439650" y="1762125"/>
            <a:ext cx="55530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6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2439650" y="2143125"/>
            <a:ext cx="5199698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name comes from the first line of the paste and says so. The button names the menu it creates.</a:t>
            </a:r>
            <a:endParaRPr lang="en-US" sz="2025" dirty="0"/>
          </a:p>
        </p:txBody>
      </p:sp>
      <p:sp>
        <p:nvSpPr>
          <p:cNvPr id="10" name="Text 7"/>
          <p:cNvSpPr/>
          <p:nvPr/>
        </p:nvSpPr>
        <p:spPr>
          <a:xfrm>
            <a:off x="12439650" y="3586163"/>
            <a:ext cx="55530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6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SHARED, NOT BESPOKE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439650" y="3967163"/>
            <a:ext cx="5199698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confirmation step a blank menu uses, and the other route is now called </a:t>
            </a:r>
            <a:r>
              <a:rPr lang="en-US" sz="20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an existing menu</a:t>
            </a:r>
            <a:r>
              <a:rPr lang="en-US" sz="20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25" dirty="0"/>
          </a:p>
        </p:txBody>
      </p:sp>
      <p:sp>
        <p:nvSpPr>
          <p:cNvPr id="12" name="Shape 9"/>
          <p:cNvSpPr/>
          <p:nvPr/>
        </p:nvSpPr>
        <p:spPr>
          <a:xfrm>
            <a:off x="12439650" y="5410200"/>
            <a:ext cx="5048250" cy="1581150"/>
          </a:xfrm>
          <a:prstGeom prst="roundRect">
            <a:avLst>
              <a:gd name="adj" fmla="val 8434"/>
            </a:avLst>
          </a:prstGeom>
          <a:solidFill>
            <a:srgbClr val="FDF9EF"/>
          </a:solidFill>
          <a:ln/>
        </p:spPr>
      </p:sp>
      <p:sp>
        <p:nvSpPr>
          <p:cNvPr id="13" name="Text 10"/>
          <p:cNvSpPr/>
          <p:nvPr/>
        </p:nvSpPr>
        <p:spPr>
          <a:xfrm>
            <a:off x="12687300" y="5638800"/>
            <a:ext cx="50082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62" dirty="0">
                <a:solidFill>
                  <a:srgbClr val="7D59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US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687300" y="6019800"/>
            <a:ext cx="4689539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dirty="0">
                <a:solidFill>
                  <a:srgbClr val="7D59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is the venue default and not choosable here. Right call?</a:t>
            </a:r>
            <a:endParaRPr lang="en-US" sz="1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1400175"/>
            <a:ext cx="16687800" cy="19050"/>
          </a:xfrm>
          <a:prstGeom prst="rect">
            <a:avLst/>
          </a:prstGeom>
          <a:solidFill>
            <a:srgbClr val="DBE3EA"/>
          </a:solidFill>
          <a:ln/>
        </p:spPr>
      </p:sp>
      <p:sp>
        <p:nvSpPr>
          <p:cNvPr id="3" name="Text 1"/>
          <p:cNvSpPr/>
          <p:nvPr/>
        </p:nvSpPr>
        <p:spPr>
          <a:xfrm>
            <a:off x="800100" y="895350"/>
            <a:ext cx="1212652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87C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146102" y="685800"/>
            <a:ext cx="14465662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-86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— replace an existing menu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5506254" y="895350"/>
            <a:ext cx="2179811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P3b · scrolls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00100" y="1704975"/>
            <a:ext cx="9712523" cy="7915275"/>
          </a:xfrm>
          <a:prstGeom prst="roundRect">
            <a:avLst>
              <a:gd name="adj" fmla="val 1203"/>
            </a:avLst>
          </a:prstGeom>
          <a:ln w="9525">
            <a:solidFill>
              <a:srgbClr val="DBE3E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704975"/>
            <a:ext cx="9712523" cy="791527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893623" y="1704975"/>
            <a:ext cx="6594277" cy="3107829"/>
          </a:xfrm>
          <a:prstGeom prst="roundRect">
            <a:avLst>
              <a:gd name="adj" fmla="val 4291"/>
            </a:avLst>
          </a:prstGeom>
          <a:solidFill>
            <a:srgbClr val="F7FBFE"/>
          </a:solidFill>
          <a:ln w="19050">
            <a:solidFill>
              <a:srgbClr val="CFE0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160323" y="1952625"/>
            <a:ext cx="66669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62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PROMISE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1160323" y="2333625"/>
            <a:ext cx="6242703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“We’ll save the current draft as a restorable version, including 2 unpublished changes.”</a:t>
            </a:r>
            <a:endParaRPr lang="en-US" sz="2025" dirty="0"/>
          </a:p>
        </p:txBody>
      </p:sp>
      <p:sp>
        <p:nvSpPr>
          <p:cNvPr id="11" name="Text 8"/>
          <p:cNvSpPr/>
          <p:nvPr/>
        </p:nvSpPr>
        <p:spPr>
          <a:xfrm>
            <a:off x="11160323" y="3193554"/>
            <a:ext cx="6242703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180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replacement records the complete pre-import working state. All snapshots remain; tier configuration controls scope, retention and restore. The server supplies the unpublished-change total and breakdown.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893623" y="5041404"/>
            <a:ext cx="72537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6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IDENTITY, NOT JUST NAMES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893623" y="5422404"/>
            <a:ext cx="6792105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menus are called Summer Menu. The picker distinguishes them by screens, size and last edit — head-office menus are listed with the reason they can’t be picked.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10893623" y="6765429"/>
            <a:ext cx="72537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6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SURVIVES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0893623" y="7146429"/>
            <a:ext cx="6792105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theme, the screens, what they’re showing now, and tonight’s 86s — matched items keep their identity, which is how the 86s survive.</a:t>
            </a:r>
            <a:endParaRPr lang="en-US" sz="1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1419225"/>
            <a:ext cx="16687800" cy="19050"/>
          </a:xfrm>
          <a:prstGeom prst="rect">
            <a:avLst/>
          </a:prstGeom>
          <a:solidFill>
            <a:srgbClr val="DBE3EA"/>
          </a:solidFill>
          <a:ln/>
        </p:spPr>
      </p:sp>
      <p:sp>
        <p:nvSpPr>
          <p:cNvPr id="3" name="Text 1"/>
          <p:cNvSpPr/>
          <p:nvPr/>
        </p:nvSpPr>
        <p:spPr>
          <a:xfrm>
            <a:off x="800100" y="895350"/>
            <a:ext cx="1212652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87C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146102" y="685800"/>
            <a:ext cx="15541407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-86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— a new menu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6484203" y="895350"/>
            <a:ext cx="1079897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P4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00100" y="1762125"/>
            <a:ext cx="11239500" cy="7031831"/>
          </a:xfrm>
          <a:prstGeom prst="roundRect">
            <a:avLst>
              <a:gd name="adj" fmla="val 1355"/>
            </a:avLst>
          </a:prstGeom>
          <a:ln w="9525">
            <a:solidFill>
              <a:srgbClr val="DBE3E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762125"/>
            <a:ext cx="11239500" cy="703183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439650" y="1762125"/>
            <a:ext cx="55530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6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 HERE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2439650" y="2143125"/>
            <a:ext cx="5199698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20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live yet </a:t>
            </a:r>
            <a:r>
              <a:rPr lang="en-US" sz="20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status, </a:t>
            </a:r>
            <a:r>
              <a:rPr lang="en-US" sz="20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draft in builder </a:t>
            </a:r>
            <a:r>
              <a:rPr lang="en-US" sz="20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the primary action, and </a:t>
            </a:r>
            <a:r>
              <a:rPr lang="en-US" sz="20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for now </a:t>
            </a:r>
            <a:r>
              <a:rPr lang="en-US" sz="20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beside it. Confirmation returns a menu ID; nothing navigates on its own.</a:t>
            </a:r>
            <a:endParaRPr lang="en-US" sz="2025" dirty="0"/>
          </a:p>
        </p:txBody>
      </p:sp>
      <p:sp>
        <p:nvSpPr>
          <p:cNvPr id="10" name="Text 7"/>
          <p:cNvSpPr/>
          <p:nvPr/>
        </p:nvSpPr>
        <p:spPr>
          <a:xfrm>
            <a:off x="12439650" y="3971925"/>
            <a:ext cx="55530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6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TRUTHFUL COUNTS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439650" y="4352925"/>
            <a:ext cx="5199698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updated, 16 added, 6 in Imported items, 47 total, 2 lines left out — identical to the answered review.</a:t>
            </a:r>
            <a:endParaRPr lang="en-US" sz="20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1419225"/>
            <a:ext cx="16687800" cy="19050"/>
          </a:xfrm>
          <a:prstGeom prst="rect">
            <a:avLst/>
          </a:prstGeom>
          <a:solidFill>
            <a:srgbClr val="DBE3EA"/>
          </a:solidFill>
          <a:ln/>
        </p:spPr>
      </p:sp>
      <p:sp>
        <p:nvSpPr>
          <p:cNvPr id="3" name="Text 1"/>
          <p:cNvSpPr/>
          <p:nvPr/>
        </p:nvSpPr>
        <p:spPr>
          <a:xfrm>
            <a:off x="800100" y="895350"/>
            <a:ext cx="1420029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87C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00585" y="685800"/>
            <a:ext cx="14546863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-86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— a menu replaced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5734556" y="895350"/>
            <a:ext cx="1928679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P4b · new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00100" y="1762125"/>
            <a:ext cx="11239500" cy="7031831"/>
          </a:xfrm>
          <a:prstGeom prst="roundRect">
            <a:avLst>
              <a:gd name="adj" fmla="val 1355"/>
            </a:avLst>
          </a:prstGeom>
          <a:ln w="9525">
            <a:solidFill>
              <a:srgbClr val="DBE3E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762125"/>
            <a:ext cx="11239500" cy="703183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439650" y="1762125"/>
            <a:ext cx="55530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6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FACTS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2439650" y="2143125"/>
            <a:ext cx="5199698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 86s that survived, the 41 items replaced </a:t>
            </a:r>
            <a:r>
              <a:rPr lang="en-US" sz="2025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saved </a:t>
            </a:r>
            <a:r>
              <a:rPr lang="en-US" sz="20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three screens still showing the version published on 6 August.</a:t>
            </a:r>
            <a:endParaRPr lang="en-US" sz="2025" dirty="0"/>
          </a:p>
        </p:txBody>
      </p:sp>
      <p:sp>
        <p:nvSpPr>
          <p:cNvPr id="10" name="Text 7"/>
          <p:cNvSpPr/>
          <p:nvPr/>
        </p:nvSpPr>
        <p:spPr>
          <a:xfrm>
            <a:off x="12439650" y="3548063"/>
            <a:ext cx="55530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6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PREVIEW IS DELIBERATE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439650" y="3929063"/>
            <a:ext cx="5199698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shows what the screens are showing </a:t>
            </a:r>
            <a:r>
              <a:rPr lang="en-US" sz="2025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</a:t>
            </a:r>
            <a:r>
              <a:rPr lang="en-US" sz="20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what was just imported. The two only match after a publish.</a:t>
            </a:r>
            <a:endParaRPr lang="en-US" sz="20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1400175"/>
            <a:ext cx="16687800" cy="19050"/>
          </a:xfrm>
          <a:prstGeom prst="rect">
            <a:avLst/>
          </a:prstGeom>
          <a:solidFill>
            <a:srgbClr val="DBE3EA"/>
          </a:solidFill>
          <a:ln/>
        </p:spPr>
      </p:sp>
      <p:sp>
        <p:nvSpPr>
          <p:cNvPr id="3" name="Text 1"/>
          <p:cNvSpPr/>
          <p:nvPr/>
        </p:nvSpPr>
        <p:spPr>
          <a:xfrm>
            <a:off x="800100" y="895350"/>
            <a:ext cx="1406277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87C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11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288084" y="685800"/>
            <a:ext cx="15706591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-86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Someone else has it, or it moved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6776353" y="895350"/>
            <a:ext cx="787747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R1, R2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b="-36558"/>
          <a:stretch/>
        </p:blipFill>
        <p:spPr>
          <a:xfrm>
            <a:off x="800100" y="1704975"/>
            <a:ext cx="11830050" cy="78962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011150" y="1704975"/>
            <a:ext cx="49244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6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011150" y="2085975"/>
            <a:ext cx="4611052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Sam, how long they’ve had it, what Sam can do about it, and that it clears itself.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3011150" y="3448050"/>
            <a:ext cx="49244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6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 UNDERNEATH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3011150" y="3829050"/>
            <a:ext cx="4611052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changed what, when. </a:t>
            </a: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matches </a:t>
            </a: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re-checks 47 items and keeps the answers that still apply.</a:t>
            </a:r>
            <a:endParaRPr lang="en-US" sz="1950" dirty="0"/>
          </a:p>
        </p:txBody>
      </p:sp>
      <p:sp>
        <p:nvSpPr>
          <p:cNvPr id="11" name="Shape 8"/>
          <p:cNvSpPr/>
          <p:nvPr/>
        </p:nvSpPr>
        <p:spPr>
          <a:xfrm>
            <a:off x="13011150" y="5191125"/>
            <a:ext cx="4476750" cy="2419350"/>
          </a:xfrm>
          <a:prstGeom prst="roundRect">
            <a:avLst>
              <a:gd name="adj" fmla="val 5512"/>
            </a:avLst>
          </a:prstGeom>
          <a:solidFill>
            <a:srgbClr val="FDF9EF"/>
          </a:solidFill>
          <a:ln/>
        </p:spPr>
      </p:sp>
      <p:sp>
        <p:nvSpPr>
          <p:cNvPr id="12" name="Shape 9"/>
          <p:cNvSpPr/>
          <p:nvPr/>
        </p:nvSpPr>
        <p:spPr>
          <a:xfrm>
            <a:off x="13258800" y="5400675"/>
            <a:ext cx="2848719" cy="400050"/>
          </a:xfrm>
          <a:prstGeom prst="roundRect">
            <a:avLst>
              <a:gd name="adj" fmla="val 50000"/>
            </a:avLst>
          </a:prstGeom>
          <a:solidFill>
            <a:srgbClr val="FDF9EF"/>
          </a:solidFill>
          <a:ln/>
        </p:spPr>
      </p:sp>
      <p:sp>
        <p:nvSpPr>
          <p:cNvPr id="13" name="Shape 10"/>
          <p:cNvSpPr/>
          <p:nvPr/>
        </p:nvSpPr>
        <p:spPr>
          <a:xfrm>
            <a:off x="13392150" y="5562600"/>
            <a:ext cx="76200" cy="76200"/>
          </a:xfrm>
          <a:prstGeom prst="ellipse">
            <a:avLst/>
          </a:prstGeom>
          <a:solidFill>
            <a:srgbClr val="C9871A"/>
          </a:solidFill>
          <a:ln/>
        </p:spPr>
      </p:sp>
      <p:sp>
        <p:nvSpPr>
          <p:cNvPr id="14" name="Text 11"/>
          <p:cNvSpPr/>
          <p:nvPr/>
        </p:nvSpPr>
        <p:spPr>
          <a:xfrm>
            <a:off x="13544550" y="5467350"/>
            <a:ext cx="267258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>
                <a:solidFill>
                  <a:srgbClr val="7D59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 DECISION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3258800" y="5915025"/>
            <a:ext cx="4100894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>
                <a:solidFill>
                  <a:srgbClr val="7D59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still-valid answers. Clear and explain only those affected by the changed target.</a:t>
            </a:r>
            <a:endParaRPr lang="en-US" sz="1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1400175"/>
            <a:ext cx="16687800" cy="19050"/>
          </a:xfrm>
          <a:prstGeom prst="rect">
            <a:avLst/>
          </a:prstGeom>
          <a:solidFill>
            <a:srgbClr val="DBE3EA"/>
          </a:solidFill>
          <a:ln/>
        </p:spPr>
      </p:sp>
      <p:sp>
        <p:nvSpPr>
          <p:cNvPr id="3" name="Text 1"/>
          <p:cNvSpPr/>
          <p:nvPr/>
        </p:nvSpPr>
        <p:spPr>
          <a:xfrm>
            <a:off x="800100" y="895350"/>
            <a:ext cx="1420029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87C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12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00585" y="685800"/>
            <a:ext cx="15692839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-86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session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6776353" y="895350"/>
            <a:ext cx="787747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R3, R4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b="-50634"/>
          <a:stretch/>
        </p:blipFill>
        <p:spPr>
          <a:xfrm>
            <a:off x="800100" y="1704975"/>
            <a:ext cx="11830050" cy="78962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011150" y="1704975"/>
            <a:ext cx="49244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6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ABSOLUTE, NOT RELATIVE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011150" y="2085975"/>
            <a:ext cx="4611052" cy="1895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Everywhere in the flow shows the resolved absolute expiry. Session lifetime comes from centralized tier configuration; successful user mutations may renew it, passive reads do not.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3011150" y="4191000"/>
            <a:ext cx="49244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6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OUT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3011150" y="4572000"/>
            <a:ext cx="4611052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import is saved server-side, so signing in lands back on the same review with the same answers.</a:t>
            </a:r>
            <a:endParaRPr lang="en-US" sz="1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1400175"/>
            <a:ext cx="16687800" cy="19050"/>
          </a:xfrm>
          <a:prstGeom prst="rect">
            <a:avLst/>
          </a:prstGeom>
          <a:solidFill>
            <a:srgbClr val="DBE3EA"/>
          </a:solidFill>
          <a:ln/>
        </p:spPr>
      </p:sp>
      <p:sp>
        <p:nvSpPr>
          <p:cNvPr id="3" name="Text 1"/>
          <p:cNvSpPr/>
          <p:nvPr/>
        </p:nvSpPr>
        <p:spPr>
          <a:xfrm>
            <a:off x="800100" y="895350"/>
            <a:ext cx="1420029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87C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13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00585" y="685800"/>
            <a:ext cx="1457453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-86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pasted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5759708" y="895350"/>
            <a:ext cx="1901011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R5, R10 new, R6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704975"/>
            <a:ext cx="10528250" cy="78962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9350" y="1704975"/>
            <a:ext cx="63564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6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CEILINGS, TWO REFUSALS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709350" y="2085975"/>
            <a:ext cx="5951906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big </a:t>
            </a: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2,146 lines against 2,000 — nothing was read. </a:t>
            </a: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many items </a:t>
            </a: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new: 1,880 lines read fine, but they add up to 612 items against a 500 limit.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1709350" y="3448050"/>
            <a:ext cx="63564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6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BEFORE, NOT AFTER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1709350" y="3829050"/>
            <a:ext cx="5951906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arrive before any matching is resolved, so nobody spends ten minutes answering questions about a menu that can’t be created. The pasted text is kept in every case.</a:t>
            </a:r>
            <a:endParaRPr lang="en-US" sz="1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1400175"/>
            <a:ext cx="16687800" cy="19050"/>
          </a:xfrm>
          <a:prstGeom prst="rect">
            <a:avLst/>
          </a:prstGeom>
          <a:solidFill>
            <a:srgbClr val="DBE3EA"/>
          </a:solidFill>
          <a:ln/>
        </p:spPr>
      </p:sp>
      <p:sp>
        <p:nvSpPr>
          <p:cNvPr id="3" name="Text 1"/>
          <p:cNvSpPr/>
          <p:nvPr/>
        </p:nvSpPr>
        <p:spPr>
          <a:xfrm>
            <a:off x="800100" y="895350"/>
            <a:ext cx="1420029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87C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14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00585" y="685800"/>
            <a:ext cx="15231666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-86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flight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6357104" y="895350"/>
            <a:ext cx="1206996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R7, R8, R9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704975"/>
            <a:ext cx="11326862" cy="78962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507962" y="1704975"/>
            <a:ext cx="547793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6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DUPLICATES, EVER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507962" y="2085975"/>
            <a:ext cx="5129336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 and R9 both promise it. That’s the visible face of the idempotency key: retry after a timeout lands on the menu that was already made.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2507962" y="3819525"/>
            <a:ext cx="547793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6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507962" y="4200525"/>
            <a:ext cx="5129336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Renamed to </a:t>
            </a: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Sam Patel </a:t>
            </a: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the copy says the button opens an email — no request inbox is being implied.</a:t>
            </a:r>
            <a:endParaRPr lang="en-US" sz="1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1400175"/>
            <a:ext cx="16687800" cy="19050"/>
          </a:xfrm>
          <a:prstGeom prst="rect">
            <a:avLst/>
          </a:prstGeom>
          <a:solidFill>
            <a:srgbClr val="DBE3EA"/>
          </a:solidFill>
          <a:ln/>
        </p:spPr>
      </p:sp>
      <p:sp>
        <p:nvSpPr>
          <p:cNvPr id="3" name="Text 1"/>
          <p:cNvSpPr/>
          <p:nvPr/>
        </p:nvSpPr>
        <p:spPr>
          <a:xfrm>
            <a:off x="800100" y="895350"/>
            <a:ext cx="1420029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87C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15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00585" y="685800"/>
            <a:ext cx="15371475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-86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487 items, 30 near matches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6484203" y="895350"/>
            <a:ext cx="1079897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B4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00100" y="1704975"/>
            <a:ext cx="11563350" cy="8227070"/>
          </a:xfrm>
          <a:prstGeom prst="roundRect">
            <a:avLst>
              <a:gd name="adj" fmla="val 1158"/>
            </a:avLst>
          </a:prstGeom>
          <a:ln w="9525">
            <a:solidFill>
              <a:srgbClr val="DBE3E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704975"/>
            <a:ext cx="11563350" cy="822707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725400" y="1704975"/>
            <a:ext cx="5238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6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SCOPED ACTION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2725400" y="2085975"/>
            <a:ext cx="4905375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28 safe matches </a:t>
            </a: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it says how many and why. The 2 we’re unsure of sit outside it and stay unanswered for individual review. There is no </a:t>
            </a:r>
            <a:r>
              <a:rPr lang="en-US" sz="19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untick all</a:t>
            </a: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2725400" y="3819525"/>
            <a:ext cx="5238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6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FALLBACK IS DIAGNOSED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725400" y="4200525"/>
            <a:ext cx="4905375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26 stay in one Imported items section. Per-line reason codes can group explanations and support one correction.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2725400" y="5934075"/>
            <a:ext cx="5238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6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THE CEILING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725400" y="6315075"/>
            <a:ext cx="4905375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“13 items short of your 500 limit” — said at review, while there’s still a choice to make about it.</a:t>
            </a:r>
            <a:endParaRPr lang="en-US" sz="1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1419225"/>
            <a:ext cx="16687800" cy="19050"/>
          </a:xfrm>
          <a:prstGeom prst="rect">
            <a:avLst/>
          </a:prstGeom>
          <a:solidFill>
            <a:srgbClr val="DBE3EA"/>
          </a:solidFill>
          <a:ln/>
        </p:spPr>
      </p:sp>
      <p:sp>
        <p:nvSpPr>
          <p:cNvPr id="3" name="Text 1"/>
          <p:cNvSpPr/>
          <p:nvPr/>
        </p:nvSpPr>
        <p:spPr>
          <a:xfrm>
            <a:off x="800100" y="895350"/>
            <a:ext cx="1420029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87C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16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00585" y="685800"/>
            <a:ext cx="15357723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-86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900px — the supported floor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6471702" y="895350"/>
            <a:ext cx="1092398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D2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00100" y="1752600"/>
            <a:ext cx="8622804" cy="7858125"/>
          </a:xfrm>
          <a:prstGeom prst="roundRect">
            <a:avLst>
              <a:gd name="adj" fmla="val 1212"/>
            </a:avLst>
          </a:prstGeom>
          <a:ln w="9525">
            <a:solidFill>
              <a:srgbClr val="DBE3E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752600"/>
            <a:ext cx="8622804" cy="7858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956304" y="3757613"/>
            <a:ext cx="828475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6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TIGHTENS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956304" y="4138613"/>
            <a:ext cx="7757544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summary rail becomes a four-cell bar, the item groups close to single rows, and the primary action moves into a footer that can’t be scrolled past. The questions still fill the first screenful.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9956304" y="6024563"/>
            <a:ext cx="828475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6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DOESN’T SHRINK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956304" y="6405563"/>
            <a:ext cx="7757544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item </a:t>
            </a:r>
            <a:r>
              <a:rPr lang="en-US" sz="2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item </a:t>
            </a:r>
            <a:r>
              <a:rPr lang="en-US" sz="2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their full words at every width. They are the choice, not a label — abbreviating them is how someone picks the wrong one.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1419225"/>
            <a:ext cx="16687800" cy="19050"/>
          </a:xfrm>
          <a:prstGeom prst="rect">
            <a:avLst/>
          </a:prstGeom>
          <a:solidFill>
            <a:srgbClr val="DBE3EA"/>
          </a:solidFill>
          <a:ln/>
        </p:spPr>
      </p:sp>
      <p:sp>
        <p:nvSpPr>
          <p:cNvPr id="3" name="Text 1"/>
          <p:cNvSpPr/>
          <p:nvPr/>
        </p:nvSpPr>
        <p:spPr>
          <a:xfrm>
            <a:off x="800100" y="895350"/>
            <a:ext cx="1420029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87C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17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00585" y="685800"/>
            <a:ext cx="1467292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-86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Narrower than 900px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5849154" y="895350"/>
            <a:ext cx="1802621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D3 · new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00100" y="1752600"/>
            <a:ext cx="5372546" cy="7858125"/>
          </a:xfrm>
          <a:prstGeom prst="roundRect">
            <a:avLst>
              <a:gd name="adj" fmla="val 2127"/>
            </a:avLst>
          </a:prstGeom>
          <a:ln w="9525">
            <a:solidFill>
              <a:srgbClr val="DBE3E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752600"/>
            <a:ext cx="5372546" cy="7858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82246" y="4024313"/>
            <a:ext cx="117762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6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NAMED, NOT BROKEN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782246" y="4405313"/>
            <a:ext cx="1102682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says what it needs, that this window is 560px, and where the work went. No half-usable review, no silent degradation.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782246" y="5491163"/>
            <a:ext cx="117762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6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 IS KEPT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782246" y="5872163"/>
            <a:ext cx="1177621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import is saved until </a:t>
            </a: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6:12 PM tomorrow</a:t>
            </a:r>
            <a:r>
              <a:rPr lang="en-US" sz="2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with a way to pick it up on a wider screen.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6782246" y="6557963"/>
            <a:ext cx="117762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6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WHAT DOES WORK SMALL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782246" y="6938963"/>
            <a:ext cx="1177621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Marking things sold out, at any width — that one is built for a phone behind the bar.</a:t>
            </a:r>
            <a:endParaRPr lang="en-US" sz="2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1323975"/>
            <a:ext cx="16687800" cy="19050"/>
          </a:xfrm>
          <a:prstGeom prst="rect">
            <a:avLst/>
          </a:prstGeom>
          <a:solidFill>
            <a:srgbClr val="DBE3EA"/>
          </a:solidFill>
          <a:ln/>
        </p:spPr>
      </p:sp>
      <p:sp>
        <p:nvSpPr>
          <p:cNvPr id="3" name="Text 1"/>
          <p:cNvSpPr/>
          <p:nvPr/>
        </p:nvSpPr>
        <p:spPr>
          <a:xfrm>
            <a:off x="800100" y="819150"/>
            <a:ext cx="1054001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87C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SEQ-01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87451" y="609600"/>
            <a:ext cx="13283342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-86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sequence, revised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2700000" y="819150"/>
            <a:ext cx="5109413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the accepted diagram when approved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00100" y="1590675"/>
            <a:ext cx="7339012" cy="8105775"/>
          </a:xfrm>
          <a:prstGeom prst="roundRect">
            <a:avLst>
              <a:gd name="adj" fmla="val 1298"/>
            </a:avLst>
          </a:prstGeom>
          <a:ln w="9525">
            <a:solidFill>
              <a:srgbClr val="DBE3E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590675"/>
            <a:ext cx="7339012" cy="810577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20113" y="1590675"/>
            <a:ext cx="419100" cy="419100"/>
          </a:xfrm>
          <a:prstGeom prst="ellipse">
            <a:avLst/>
          </a:prstGeom>
          <a:solidFill>
            <a:srgbClr val="87CEEB"/>
          </a:solidFill>
          <a:ln/>
        </p:spPr>
      </p:sp>
      <p:sp>
        <p:nvSpPr>
          <p:cNvPr id="9" name="Text 6"/>
          <p:cNvSpPr/>
          <p:nvPr/>
        </p:nvSpPr>
        <p:spPr>
          <a:xfrm>
            <a:off x="8482013" y="1590675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10663" y="1590675"/>
            <a:ext cx="8628555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Import-session lease </a:t>
            </a: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an edit lease — no target menu has been chosen yet.</a:t>
            </a:r>
            <a:endParaRPr lang="en-US" sz="1950" dirty="0"/>
          </a:p>
        </p:txBody>
      </p:sp>
      <p:sp>
        <p:nvSpPr>
          <p:cNvPr id="11" name="Shape 8"/>
          <p:cNvSpPr/>
          <p:nvPr/>
        </p:nvSpPr>
        <p:spPr>
          <a:xfrm>
            <a:off x="8520113" y="2518172"/>
            <a:ext cx="419100" cy="419100"/>
          </a:xfrm>
          <a:prstGeom prst="ellipse">
            <a:avLst/>
          </a:prstGeom>
          <a:solidFill>
            <a:srgbClr val="87CEEB"/>
          </a:solidFill>
          <a:ln/>
        </p:spPr>
      </p:sp>
      <p:sp>
        <p:nvSpPr>
          <p:cNvPr id="12" name="Text 9"/>
          <p:cNvSpPr/>
          <p:nvPr/>
        </p:nvSpPr>
        <p:spPr>
          <a:xfrm>
            <a:off x="8482013" y="2518172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110663" y="2518172"/>
            <a:ext cx="8009721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</a:t>
            </a: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ceilings </a:t>
            </a: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rule behind every automatic match.</a:t>
            </a:r>
            <a:endParaRPr lang="en-US" sz="1950" dirty="0"/>
          </a:p>
        </p:txBody>
      </p:sp>
      <p:sp>
        <p:nvSpPr>
          <p:cNvPr id="14" name="Shape 11"/>
          <p:cNvSpPr/>
          <p:nvPr/>
        </p:nvSpPr>
        <p:spPr>
          <a:xfrm>
            <a:off x="8520113" y="3146822"/>
            <a:ext cx="419100" cy="4191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2"/>
          <p:cNvSpPr/>
          <p:nvPr/>
        </p:nvSpPr>
        <p:spPr>
          <a:xfrm>
            <a:off x="8482013" y="3146822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9110663" y="3146822"/>
            <a:ext cx="8705820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menu lock </a:t>
            </a: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stays here, at confirmation, where it already was.</a:t>
            </a:r>
            <a:endParaRPr lang="en-US" sz="1950" dirty="0"/>
          </a:p>
        </p:txBody>
      </p:sp>
      <p:sp>
        <p:nvSpPr>
          <p:cNvPr id="17" name="Shape 14"/>
          <p:cNvSpPr/>
          <p:nvPr/>
        </p:nvSpPr>
        <p:spPr>
          <a:xfrm>
            <a:off x="8520113" y="3775472"/>
            <a:ext cx="419100" cy="419100"/>
          </a:xfrm>
          <a:prstGeom prst="ellipse">
            <a:avLst/>
          </a:prstGeom>
          <a:solidFill>
            <a:srgbClr val="87CEEB"/>
          </a:solidFill>
          <a:ln/>
        </p:spPr>
      </p:sp>
      <p:sp>
        <p:nvSpPr>
          <p:cNvPr id="18" name="Text 15"/>
          <p:cNvSpPr/>
          <p:nvPr/>
        </p:nvSpPr>
        <p:spPr>
          <a:xfrm>
            <a:off x="8482013" y="3775472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110663" y="3775472"/>
            <a:ext cx="8628555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— write the restorable version inside the transaction, before any working row is replaced.</a:t>
            </a:r>
            <a:endParaRPr lang="en-US" sz="1950" dirty="0"/>
          </a:p>
        </p:txBody>
      </p:sp>
      <p:sp>
        <p:nvSpPr>
          <p:cNvPr id="20" name="Shape 17"/>
          <p:cNvSpPr/>
          <p:nvPr/>
        </p:nvSpPr>
        <p:spPr>
          <a:xfrm>
            <a:off x="8520113" y="4702969"/>
            <a:ext cx="419100" cy="419100"/>
          </a:xfrm>
          <a:prstGeom prst="ellipse">
            <a:avLst/>
          </a:prstGeom>
          <a:solidFill>
            <a:srgbClr val="87CEEB"/>
          </a:solidFill>
          <a:ln/>
        </p:spPr>
      </p:sp>
      <p:sp>
        <p:nvSpPr>
          <p:cNvPr id="21" name="Text 18"/>
          <p:cNvSpPr/>
          <p:nvPr/>
        </p:nvSpPr>
        <p:spPr>
          <a:xfrm>
            <a:off x="8482013" y="4702969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9110663" y="4702969"/>
            <a:ext cx="8628555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completed import and menu ID. </a:t>
            </a: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Office shows Done; the operator opens the builder.</a:t>
            </a:r>
            <a:endParaRPr lang="en-US" sz="1950" dirty="0"/>
          </a:p>
        </p:txBody>
      </p:sp>
      <p:sp>
        <p:nvSpPr>
          <p:cNvPr id="23" name="Text 20"/>
          <p:cNvSpPr/>
          <p:nvPr/>
        </p:nvSpPr>
        <p:spPr>
          <a:xfrm>
            <a:off x="8520113" y="8991600"/>
            <a:ext cx="923682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Unchanged: revisions, expiry, permission and ceiling rechecks, idempotency, atomic create or replace, full rollback, and a session that survives a conflict with its answers.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858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>
                <a:solidFill>
                  <a:srgbClr val="87C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 — OWNER DECISIONS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18021300" cy="646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215"/>
              </a:lnSpc>
              <a:buNone/>
            </a:pPr>
            <a:r>
              <a:rPr lang="en-US" sz="4200" b="1" kern="0" spc="-126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behaviours confirmed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52500" y="1846213"/>
            <a:ext cx="137350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decisions now govern the storyboard, repository authority and implementation. Example expiry times remain illustrative until tier defaults are configured.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52500" y="2893963"/>
            <a:ext cx="16383000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3046363"/>
            <a:ext cx="40005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7C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6850" y="3046363"/>
            <a:ext cx="1745551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419"/>
              </a:lnSpc>
              <a:buNone/>
            </a:pPr>
            <a:r>
              <a:rPr lang="en-US" sz="195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preserves answers whose source line and candidate identity remain valid; only dependency-affected answers are cleared and explained.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52500" y="3535859"/>
            <a:ext cx="16383000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3688259"/>
            <a:ext cx="40005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7C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6850" y="3688259"/>
            <a:ext cx="1745551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419"/>
              </a:lnSpc>
              <a:buNone/>
            </a:pPr>
            <a:r>
              <a:rPr lang="en-US" sz="195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server computes a structured delta against the published snapshot and returns a readable total and category breakdown at confirmation.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52500" y="4177754"/>
            <a:ext cx="16383000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952500" y="4330154"/>
            <a:ext cx="40005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7C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6850" y="4330154"/>
            <a:ext cx="1745551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419"/>
              </a:lnSpc>
              <a:buNone/>
            </a:pPr>
            <a:r>
              <a:rPr lang="en-US" sz="195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content stays in one Imported items section; per-line parser reasons support explanation, diagnostics and grouping.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52500" y="4819650"/>
            <a:ext cx="16383000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" y="4972050"/>
            <a:ext cx="40005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7C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6850" y="4972050"/>
            <a:ext cx="1745551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419"/>
              </a:lnSpc>
              <a:buNone/>
            </a:pPr>
            <a:r>
              <a:rPr lang="en-US" sz="195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eligible unreadable line may become a section only through an explicit reversible review action.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52500" y="5461546"/>
            <a:ext cx="16383000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952500" y="5613946"/>
            <a:ext cx="40005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7C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6850" y="5613946"/>
            <a:ext cx="1745551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419"/>
              </a:lnSpc>
              <a:buNone/>
            </a:pPr>
            <a:r>
              <a:rPr lang="en-US" sz="1950" b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every pre-import snapshot. Tier configuration controls its scope, retention and restore eligibility.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52500" y="6103441"/>
            <a:ext cx="16383000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952500" y="6255841"/>
            <a:ext cx="40005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7C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66850" y="6255841"/>
            <a:ext cx="1745551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419"/>
              </a:lnSpc>
              <a:buNone/>
            </a:pPr>
            <a:r>
              <a:rPr lang="en-US" sz="1950" b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Import-session lifetime comes from tier configuration. Successful user mutations may renew expiry; passive reads do not.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52500" y="7733854"/>
            <a:ext cx="16383000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Shape 22"/>
          <p:cNvSpPr/>
          <p:nvPr/>
        </p:nvSpPr>
        <p:spPr>
          <a:xfrm>
            <a:off x="952500" y="6745337"/>
            <a:ext cx="16383000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952500" y="6897737"/>
            <a:ext cx="400050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98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66850" y="6897737"/>
            <a:ext cx="16344710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419"/>
              </a:lnSpc>
              <a:buNone/>
            </a:pPr>
            <a:r>
              <a:rPr lang="en-US" sz="195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pasted price change is menu-scoped and never silently changes another menu. Shared-price storage must create an override/copy or explicitly refuse.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952500" y="8496300"/>
            <a:ext cx="16383000" cy="1104900"/>
          </a:xfrm>
          <a:prstGeom prst="roundRect">
            <a:avLst>
              <a:gd name="adj" fmla="val 12069"/>
            </a:avLst>
          </a:prstGeom>
          <a:solidFill>
            <a:srgbClr val="F8FAFC">
              <a:alpha val="7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200150" y="8705850"/>
            <a:ext cx="1636433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scope: </a:t>
            </a: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keyboard-specific interaction design and keyboard testing are out of this milestone. Semantic controls, accessible names and relationships, visible focus, and screen-reader-compatible status and error messaging remain required — they are specified with each screen, not deferred.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2739</Words>
  <Application>Microsoft Office PowerPoint</Application>
  <PresentationFormat>Custom</PresentationFormat>
  <Paragraphs>258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Jeremy Miedreich</cp:lastModifiedBy>
  <cp:revision>5</cp:revision>
  <dcterms:created xsi:type="dcterms:W3CDTF">2026-08-14T01:16:34Z</dcterms:created>
  <dcterms:modified xsi:type="dcterms:W3CDTF">2026-08-14T01:51:10Z</dcterms:modified>
</cp:coreProperties>
</file>